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BBC05"/>
                </a:solidFill>
              </a:defRPr>
            </a:pPr>
            <a:r>
              <a:t>GOOGLE ENTERPRISE AI HACKATHON • TEAM 12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Elevate HR</a:t>
            </a:r>
          </a:p>
          <a:p>
            <a:pPr>
              <a:spcAft>
                <a:spcPts val="1800"/>
              </a:spcAft>
              <a:defRPr sz="2800" b="1">
                <a:solidFill>
                  <a:srgbClr val="1A73E8"/>
                </a:solidFill>
              </a:defRPr>
            </a:pPr>
            <a:r>
              <a:t>Autonomous Multi-Agent HR Orchestrator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</a:defRPr>
            </a:pPr>
            <a:r>
              <a:t>Next-Generation Enterprise Self-Service powered by Google ADK, FastMCP, Model Armor &amp; Open Knowledge Federation.</a:t>
            </a:r>
          </a:p>
          <a:p>
            <a:pPr>
              <a:defRPr sz="1300" b="1">
                <a:solidFill>
                  <a:srgbClr val="34A853"/>
                </a:solidFill>
              </a:defRPr>
            </a:pPr>
            <a:r>
              <a:t>Architectural Blueprint • Decision Choices • Security Guardrails • Live System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EXECUTIVE OVERVIEW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Transforming Enterprise HR Friction into Autonomous Resolution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A4335"/>
                </a:solidFill>
              </a:defRPr>
            </a:pPr>
            <a:r>
              <a:t>The Enterprise Challenge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Fragmented Silos: Employees navigate separate portals for Policies (PDFs), HCM (Workday/WorkWeek), and ITSM (ServiceNow/ServiceImmediately).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Context Loss: Compound workflows (e.g. sick leave -&gt; PTO booking -&gt; email delegation ticket) require 3 manual hops.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Compliance Vulnerabilities: Employees misclassify expenses or take unapproved leaves due to complex statutory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A73E8"/>
                </a:solidFill>
              </a:defRPr>
            </a:pPr>
            <a:r>
              <a:t>The Agentic Solution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Hierarchical Multi-Agent Topology: Built on Google Agent Development Kit (ADK) with root orchestrator &amp; 3 domain specialists.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Open Knowledge Federation (OKF): Sub-millisecond policy retrieval with strict URI citations &amp; zero-hallucination guarantees.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FastMCP Integration: Model Context Protocol over Streamable HTTP for live bi-directional HCM and ITSM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4A853"/>
                </a:solidFill>
              </a:defRPr>
            </a:pPr>
            <a:r>
              <a:t>Measurable Impact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85%+ Deflection of routine Tier-1 HR and IT helpdesk queries.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&lt;10s SLA across multi-turn compound cross-system workflows.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100% Policy Compliance with hard programmatic and prompt invariants ('No means No').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99.34% Score on comprehensive 33-case benchmark evaluation 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ARCHITECTURE TOPOLOGY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Decoupled Hierarchical Multi-Agent Architecture</a:t>
            </a:r>
          </a:p>
        </p:txBody>
      </p:sp>
      <p:pic>
        <p:nvPicPr>
          <p:cNvPr id="3" name="Picture 2" descr="system_architecture_17869646635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1642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463040"/>
            <a:ext cx="47548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73E8"/>
                </a:solidFill>
              </a:defRPr>
            </a:pPr>
            <a:r>
              <a:t>Central ADK Root Orchestrator (`hr_orchestrator`)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Acts as the intelligent coordinator and single conversational interface.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Performs intent classification, context aggregation, and dynamic delegation.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Synthesizes multi-agent outputs into unified executive responses.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108960"/>
            <a:ext cx="47548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73E8"/>
                </a:solidFill>
              </a:defRPr>
            </a:pPr>
            <a:r>
              <a:t>Policy Specialist (`policy_specialist`)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Open Knowledge Format (OKF) with thread-safe atomic cache hot-reloading.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Extracts statutory Singapore MOM rules, leaves, benefits, and code of conduct.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Enforces strict URI citations (`policy://...`) and zero hallucination.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754880"/>
            <a:ext cx="47548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84632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73E8"/>
                </a:solidFill>
              </a:defRPr>
            </a:pPr>
            <a:r>
              <a:t>HCM Specialist (`hcm_specialist`) &amp; ITSM Specialist (`itsm_specialist`)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WorkWeek FastMCP: Checks balances, submits time-off, updates profiles.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ServiceImmediately FastMCP: Ticket creation, comment activity, Tier-2 HITL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ENGINEERING RATIONALE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Key Architectural Decisions: Why This and Not That?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ARCHITECTURE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Google ADK Multi-Agent Hierarchy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Monolithic Prompt / Flat LangChain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Domain tool isolation prevents tool hallucination and prompt pollution.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Lightweight ADK Runner with standard SessionService for robust state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KNOWLEDGE ENGINE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Open Knowledge Federation (OKF)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Vector DB Embeddings / Heavy RAG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Atomic double-buffered cache with mtime auto-invalidation (sub-ms lookup).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Eliminates chunking loss, stale embeddings, and ungrounded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TOOL INTEGRATION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FastMCP over Streamable HTTP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Custom Proprietary REST Endpoints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Standardized Model Context Protocol (MCP) dynamic tool schema discovery.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Universal deployment token binding with fallback resilience.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SECURITY &amp; DLP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Model Armor + Regex Sanitizer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Post-hoc LLM Self-Moderation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Zero SPII leakage (NRIC/Credit Cards masked BEFORE reaching LLM).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Immutable policy invariants: 'No Means No' even when users demand overrides.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AUTONOMOUS EXECUTION FLOW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Compound Multi-Hop Workflow Delegation</a:t>
            </a:r>
          </a:p>
        </p:txBody>
      </p:sp>
      <p:pic>
        <p:nvPicPr>
          <p:cNvPr id="3" name="Picture 2" descr="flow_diagram_17869646932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1642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463040"/>
            <a:ext cx="4754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73E8"/>
                </a:solidFill>
              </a:defRPr>
            </a:pPr>
            <a:r>
              <a:t>Step 1: Ingestion &amp; In-Flight Masking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User prompt is intercepted by Model Armor regex filter; NRIC, cards, and credentials are redacted prior to LLM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697480"/>
            <a:ext cx="4754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788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73E8"/>
                </a:solidFill>
              </a:defRPr>
            </a:pPr>
            <a:r>
              <a:t>Step 2: Orchestrator Intent Decomposition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Root agent analyzes query (e.g. 'I need 2 days leave and a ticket to forward emails') and decomposes into parallel/sequential sub-tasks.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31920"/>
            <a:ext cx="4754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0233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73E8"/>
                </a:solidFill>
              </a:defRPr>
            </a:pPr>
            <a:r>
              <a:t>Step 3: Specialist Tool Invocation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Policy Specialist verifies notice rules -&gt; HCM Specialist books time off -&gt; ITSM Specialist creates email routing incident.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5166360"/>
            <a:ext cx="4754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5257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73E8"/>
                </a:solidFill>
              </a:defRPr>
            </a:pPr>
            <a:r>
              <a:t>Step 4: Synthesis, Citation &amp; UI Stream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Results are collated with ticket IDs, balance confirmations, and bottom policy sources, streamed back to user in sub-second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MODERN USER EXPERIENCE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Google Aura 3-Column Workspace UI</a:t>
            </a:r>
          </a:p>
        </p:txBody>
      </p:sp>
      <p:pic>
        <p:nvPicPr>
          <p:cNvPr id="3" name="Picture 2" descr="media_17872002467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06836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0" y="169164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A73E8"/>
                </a:solidFill>
              </a:defRPr>
            </a:pPr>
            <a:r>
              <a:t>Key UI Capabilities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3-Column Layout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Left: Chat Session History</a:t>
            </a:r>
            <a:br/>
            <a:r>
              <a:t>Center: Active Conversation Stream</a:t>
            </a:r>
            <a:br/>
            <a:r>
              <a:t>Right: Real-time 'My Hub' drawer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Live 'My Hub' Sidebar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Dynamic leave balance bars and recent ITSM ticket tracker decoded live from FastMCP.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Multi-User Persona Switcher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Seamless demonstration login across EMP-380 (Zuhaib), EMP-102 (Sarah), EMP-001 (Alex).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Execution Trace Viewer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Collapsible tool-call trace revealing exact JSON-RPC payloads and ADK sub-agent handoffs.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One-Click Quick Actions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Direct chip buttons for balance checks, ticket summaries, and policy FAQs.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LIVE ENTERPRISE INTEGRATIONS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Real-Time FastMCP SaaS Execution &amp; Attribution</a:t>
            </a:r>
          </a:p>
        </p:txBody>
      </p:sp>
      <p:pic>
        <p:nvPicPr>
          <p:cNvPr id="3" name="Picture 2" descr="media_1787200239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2765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6916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A853"/>
                </a:solidFill>
              </a:defRPr>
            </a:pPr>
            <a:r>
              <a:t>Verified SaaS Workflows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Direct Portal Creation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Tickets (INC0002836, INC0002835, etc.) appear instantly on the live SaaS portal with zero human middleware.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Accurate Attribution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Initial dispatch comments automatically link the employee's ID (e.g. 'Updated by: 380') in the audit trail.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Real-Time Balances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Leave deductions in WorkWeek immediately update accrued vacation/sick balances in the UI drawer.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Resilient Fallback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High-fidelity mock execution gracefully protects user experience during sandbox credential rotations.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SAFETY &amp; COMPLIANCE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Enterprise Guardrails: 'No Means No'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EA4335"/>
                </a:solidFill>
              </a:defRPr>
            </a:pPr>
            <a:r>
              <a:t>Anti-Bribery &amp; Deceptive Marketing (Sec 13.6)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Prohibits disguising government official entertainment under 'General Marketing' to avoid scrutiny.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Refuses ticket creation even when user explicitly demands: 'create it anyway'.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Mandates transparent Concur reporting + Manager Pre-Approval for client expenses &gt; $100.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A73E8"/>
                </a:solidFill>
              </a:defRPr>
            </a:pPr>
            <a:r>
              <a:t>Data Loss Prevention (DLP) &amp; Privacy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Singapore NRIC Masking: In-flight sanitization replaces S1234567A with [NRIC_REDACTED].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Credit Card &amp; Token Scrubbing: Strips PANs and API keys before sending to LLM context.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GDPR / Right to be Forgotten: Session deletion endpoint for full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BBC05"/>
                </a:solidFill>
              </a:defRPr>
            </a:pPr>
            <a:r>
              <a:t>Transaction &amp; Leave Notice Guardrails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Overdraft Prevention: Blocks leave requests that exceed accrued balances.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15-Day Advance Notice Guard: Enforces statutory notice for long vacations while allowing routine 1-2 day short leaves.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Medical Certificate (MC) Invariant: Enforces MC submission within 48h for leaves &gt; 2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VERIFICATION &amp; TESTING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Comprehensive 4-Tier Evaluation Suite (33 Test Cases)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657600" cy="47548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</a:defRPr>
            </a:pPr>
            <a:r>
              <a:t>Overall Readiness</a:t>
            </a:r>
          </a:p>
          <a:p>
            <a:pPr>
              <a:spcAft>
                <a:spcPts val="800"/>
              </a:spcAft>
              <a:defRPr sz="3600" b="1">
                <a:solidFill>
                  <a:srgbClr val="34A853"/>
                </a:solidFill>
              </a:defRPr>
            </a:pPr>
            <a:r>
              <a:t>99.34%</a:t>
            </a:r>
          </a:p>
          <a:p>
            <a:pPr>
              <a:spcAft>
                <a:spcPts val="1400"/>
              </a:spcAft>
              <a:defRPr sz="1200" b="1">
                <a:solidFill>
                  <a:srgbClr val="1E293B"/>
                </a:solidFill>
              </a:defRPr>
            </a:pPr>
            <a:r>
              <a:t>✅ 33 / 33 Passed (100.0% Pass Rate)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Relevance (S_rel, 30%): 99.8%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Rigor &amp; Reasoning (S_rigor, 35%): 100.0%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Cost &amp; Time (S_cost_time, 15%): 96.0%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Safety Guardrails (S_guard, 20%): 100.0%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63040"/>
            <a:ext cx="6766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92040" y="1691640"/>
            <a:ext cx="6309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73E8"/>
                </a:solidFill>
              </a:defRPr>
            </a:pPr>
            <a:r>
              <a:t>Stratified Dataset Coverage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🟢 Tier 1: Happy Path (10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MOM statutory sick/maternity leaves, vacation accrual calculations, WorkWeek balance lookups, and ServiceImmediately ticket submissions.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🟡 Tier 2: MAS Gotchas &amp; Multi-Hop (6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Cross-specialist handoffs, exhaustion preconditions, prohibited venue overrides, and ticket priority anti-inflation.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🔴 Tier 3: Hallucination Baits (3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Fictitious perks (pet helicopter transfers, crypto dining stipends, corporate yacht charters) testing strict zero-hallucination abstention.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🟣 Tier 4: Boundary &amp; Safety Probes (3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Out-of-scope domain probes (code algorithms, political opinions, stock trading advice) verifying polite refusals.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💬 Multi-Turn Trajectories (3 Flows)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Complex stateful conversational flows with clarification loops and iterative issue troubleshooting.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🛡️ Adversarial &amp; Guardrails (8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Singapore NRIC masking, credit card DLP, prompt injection jailbreak defenses, and SaaS 500 error escalation.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DEVOPS &amp; INFRASTRUCTURE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Production Cloud Run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73E8"/>
                </a:solidFill>
              </a:defRPr>
            </a:pPr>
            <a:r>
              <a:t>Google Cloud Run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Serverless auto-scaling container running FastAPI + Uvicorn.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W3C Distributed Tracing headers propagated across all agent steps.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Zero cold-start delay with optimized multi-threaded async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</a:defRPr>
            </a:pPr>
            <a:r>
              <a:t>Google Cloud Secret Manager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Secure storage of FastMCP credentials (`hr-agent-mcp-token`).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Dynamic binding during Cloud Run deployment (`--set-secrets=...`).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Zero hardcoded secrets in source repository or container image.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C05"/>
                </a:solidFill>
              </a:defRPr>
            </a:pPr>
            <a:r>
              <a:t>Vertex AI &amp; IAM Service Accounts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Direct IAM integration via Compute Engine Service Account.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Zero credential expiration (eliminates local ADC login requirements).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Enterprise Gemini 2.5 Flash LLM with low latency and high concurrency.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</a:defRPr>
            </a:pPr>
            <a:r>
              <a:t>Automated CI/CD Deployment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1-Click deployment script: `./deploy_full_gcp.sh`.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Supports automated secret versioning, rolling revisions, and dry-run preflight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C05"/>
                </a:solidFill>
              </a:defRPr>
            </a:pPr>
            <a:r>
              <a:t>ELEVATE HR • TEAM 12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Delivering True Enterprise Autonomous Value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Autonomous Self-Service: Employees complete leave bookings, policy inquiries, and IT tickets in seconds without HR human intervention.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Multi-System Interoperability: Seamless FastMCP connectivity bridges WorkWeek and ServiceImmediately into one conversational brain.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Zero-Compromise Security: Immutable compliance invariants, Singapore NRIC masking, and Model Armor prompt injection protection.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Production Proven: 99.34% composite score across 33 rigorous benchmarks with full Google Cloud Run serverless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