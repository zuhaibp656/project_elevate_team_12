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A73E8"/>
                </a:solidFill>
              </a:defRPr>
            </a:pPr>
            <a:r>
              <a:t>SYSTEM ARCHITECTURE</a:t>
            </a:r>
          </a:p>
          <a:p>
            <a:pPr>
              <a:defRPr sz="2200" b="1">
                <a:solidFill>
                  <a:srgbClr val="1E293B"/>
                </a:solidFill>
              </a:defRPr>
            </a:pPr>
            <a:r>
              <a:t>End-to-End Query Flow &amp; State Management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800" b="1">
                <a:solidFill>
                  <a:srgbClr val="1A73E8"/>
                </a:solidFill>
              </a:defRPr>
            </a:pPr>
            <a:r>
              <a:t>How a Request Moves Through the System:</a:t>
            </a:r>
          </a:p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1. UI &amp; Auth Injection</a:t>
            </a:r>
          </a:p>
          <a:p>
            <a:pPr lvl="1">
              <a:defRPr sz="1400">
                <a:solidFill>
                  <a:srgbClr val="64748B"/>
                </a:solidFill>
              </a:defRPr>
            </a:pPr>
            <a:r>
              <a:t>Browser generates chat_session_id. UI injects X-Employee-ID and X-MCP-Token into FastAPI REST headers.</a:t>
            </a:r>
          </a:p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2. Backend Thread Context</a:t>
            </a:r>
          </a:p>
          <a:p>
            <a:pPr lvl="1">
              <a:defRPr sz="1400">
                <a:solidFill>
                  <a:srgbClr val="64748B"/>
                </a:solidFill>
              </a:defRPr>
            </a:pPr>
            <a:r>
              <a:t>FastAPI (ui/server.py) maps session ID to ADK memory. Token is injected securely into ACTIVE_MCP_TOKEN_CV ContextVar.</a:t>
            </a:r>
          </a:p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3. Orchestrator Routing</a:t>
            </a:r>
          </a:p>
          <a:p>
            <a:pPr lvl="1">
              <a:defRPr sz="1400">
                <a:solidFill>
                  <a:srgbClr val="64748B"/>
                </a:solidFill>
              </a:defRPr>
            </a:pPr>
            <a:r>
              <a:t>Orchestrator receives prompt. Delegates to Sub-Agents (HCM / ITSM / Policy) based on domain context.</a:t>
            </a:r>
          </a:p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4. Autonomous Multi-Step Execution</a:t>
            </a:r>
          </a:p>
          <a:p>
            <a:pPr lvl="1">
              <a:defRPr sz="1400">
                <a:solidFill>
                  <a:srgbClr val="64748B"/>
                </a:solidFill>
              </a:defRPr>
            </a:pPr>
            <a:r>
              <a:t>If bulk action requested (e.g., 'Close all tickets'), agent autonomously calls 'Read' tools (list_tickets) first, parses IDs, and loops 'Write' tools (update_ticket_status) without acting like a dumb chatbot.</a:t>
            </a:r>
          </a:p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5. State Management &amp; Real-Time Sync</a:t>
            </a:r>
          </a:p>
          <a:p>
            <a:pPr lvl="1">
              <a:defRPr sz="1400">
                <a:solidFill>
                  <a:srgbClr val="64748B"/>
                </a:solidFill>
              </a:defRPr>
            </a:pPr>
            <a:r>
              <a:t>Agent memory stores conversation. SaaS backends store facts. Agent ALWAYS executes live reads to prevent hallucinating stale balances. UI sidebar autonomously fetches real-time updates post-action.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FBBC05"/>
                </a:solidFill>
              </a:defRPr>
            </a:pPr>
            <a:r>
              <a:t>COMPLIANCE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The Pre-Action Policy Gatekeeper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BBC05"/>
                </a:solidFill>
              </a:defRPr>
            </a:pPr>
            <a:r>
              <a:t>Strict Two-Step Escalation &amp; No Silent Downgrades</a:t>
            </a:r>
          </a:p>
          <a:p>
            <a:pPr>
              <a:spcBef>
                <a:spcPts val="1600"/>
              </a:spcBef>
              <a:defRPr sz="1600" b="1">
                <a:solidFill>
                  <a:srgbClr val="FFFFFF"/>
                </a:solidFill>
              </a:defRPr>
            </a:pPr>
            <a:r>
              <a:t>The Problem:</a:t>
            </a:r>
          </a:p>
          <a:p>
            <a:pPr lvl="1">
              <a:defRPr sz="1400">
                <a:solidFill>
                  <a:srgbClr val="F8FAFC"/>
                </a:solidFill>
              </a:defRPr>
            </a:pPr>
            <a:r>
              <a:t>Helpful LLMs often silently modify non-compliant requests (e.g. downgrading 'Priority 1' to 'Priority 3') just to force the action through. Or they directly create Escalation Tickets instead of refusing the user.</a:t>
            </a:r>
          </a:p>
          <a:p>
            <a:pPr>
              <a:spcBef>
                <a:spcPts val="1600"/>
              </a:spcBef>
              <a:defRPr sz="1600" b="1">
                <a:solidFill>
                  <a:srgbClr val="FFFFFF"/>
                </a:solidFill>
              </a:defRPr>
            </a:pPr>
            <a:r>
              <a:t>The Gatekeeper Solution:</a:t>
            </a:r>
          </a:p>
          <a:p>
            <a:pPr lvl="1">
              <a:defRPr sz="1400">
                <a:solidFill>
                  <a:srgbClr val="F8FAFC"/>
                </a:solidFill>
              </a:defRPr>
            </a:pPr>
            <a:r>
              <a:t>Before ANY write-tool execution, the agent evaluates policy.</a:t>
            </a:r>
          </a:p>
          <a:p>
            <a:pPr>
              <a:spcBef>
                <a:spcPts val="1600"/>
              </a:spcBef>
              <a:defRPr sz="1600" b="1">
                <a:solidFill>
                  <a:srgbClr val="FFFFFF"/>
                </a:solidFill>
              </a:defRPr>
            </a:pPr>
            <a:r>
              <a:t>Step 1: Hard Stop &amp; Deny</a:t>
            </a:r>
          </a:p>
          <a:p>
            <a:pPr lvl="1">
              <a:defRPr sz="1400">
                <a:solidFill>
                  <a:srgbClr val="F8FAFC"/>
                </a:solidFill>
              </a:defRPr>
            </a:pPr>
            <a:r>
              <a:t>Agent halts entirely. Outputs a prominent ⚠️ Policy Non-Compliance Warning. It is explicitly forbidden from secretly downgrading parameters.</a:t>
            </a:r>
          </a:p>
          <a:p>
            <a:pPr>
              <a:spcBef>
                <a:spcPts val="1600"/>
              </a:spcBef>
              <a:defRPr sz="1600" b="1">
                <a:solidFill>
                  <a:srgbClr val="FFFFFF"/>
                </a:solidFill>
              </a:defRPr>
            </a:pPr>
            <a:r>
              <a:t>Step 2: Multi-Part Query Defense</a:t>
            </a:r>
          </a:p>
          <a:p>
            <a:pPr lvl="1">
              <a:defRPr sz="1400">
                <a:solidFill>
                  <a:srgbClr val="F8FAFC"/>
                </a:solidFill>
              </a:defRPr>
            </a:pPr>
            <a:r>
              <a:t>Agent is forced to answer all secondary questions (e.g. $500 equipment allowances) in the same denial response.</a:t>
            </a:r>
          </a:p>
          <a:p>
            <a:pPr>
              <a:spcBef>
                <a:spcPts val="1600"/>
              </a:spcBef>
              <a:defRPr sz="1600" b="1">
                <a:solidFill>
                  <a:srgbClr val="FFFFFF"/>
                </a:solidFill>
              </a:defRPr>
            </a:pPr>
            <a:r>
              <a:t>Step 3: Explicit Escalation</a:t>
            </a:r>
          </a:p>
          <a:p>
            <a:pPr lvl="1">
              <a:defRPr sz="1400">
                <a:solidFill>
                  <a:srgbClr val="F8FAFC"/>
                </a:solidFill>
              </a:defRPr>
            </a:pPr>
            <a:r>
              <a:t>Agent only verbally suggests escalation. It NEVER executes 'escalate_to_human_hr' unless the user replies back in the next turn confirming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371600"/>
            <a:ext cx="137160" cy="41148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241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BBC05"/>
                </a:solidFill>
              </a:defRPr>
            </a:pPr>
            <a:r>
              <a:t>GOOGLE ENTERPRISE AI HACKATHON • TEAM 12</a:t>
            </a:r>
          </a:p>
          <a:p>
            <a:pPr>
              <a:defRPr sz="4400" b="1">
                <a:solidFill>
                  <a:srgbClr val="FFFFFF"/>
                </a:solidFill>
              </a:defRPr>
            </a:pPr>
            <a:r>
              <a:t>Elevate HR</a:t>
            </a:r>
          </a:p>
          <a:p>
            <a:pPr>
              <a:spcAft>
                <a:spcPts val="1800"/>
              </a:spcAft>
              <a:defRPr sz="2800" b="1">
                <a:solidFill>
                  <a:srgbClr val="1A73E8"/>
                </a:solidFill>
              </a:defRPr>
            </a:pPr>
            <a:r>
              <a:t>Autonomous Multi-Agent HR Orchestrator</a:t>
            </a:r>
          </a:p>
          <a:p>
            <a:pPr>
              <a:spcAft>
                <a:spcPts val="2400"/>
              </a:spcAft>
              <a:defRPr sz="1600">
                <a:solidFill>
                  <a:srgbClr val="CBD5E1"/>
                </a:solidFill>
              </a:defRPr>
            </a:pPr>
            <a:r>
              <a:t>Next-Generation Enterprise Self-Service powered by Google ADK, FastMCP, Model Armor &amp; Open Knowledge Federation.</a:t>
            </a:r>
          </a:p>
          <a:p>
            <a:pPr>
              <a:defRPr sz="1300" b="1">
                <a:solidFill>
                  <a:srgbClr val="34A853"/>
                </a:solidFill>
              </a:defRPr>
            </a:pPr>
            <a:r>
              <a:t>Architectural Blueprint • Decision Choices • Security Guardrails • Live System Verification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A73E8"/>
                </a:solidFill>
              </a:defRPr>
            </a:pPr>
            <a:r>
              <a:t>EXECUTIVE OVERVIEW</a:t>
            </a:r>
          </a:p>
          <a:p>
            <a:pPr>
              <a:defRPr sz="2200" b="1">
                <a:solidFill>
                  <a:srgbClr val="1E293B"/>
                </a:solidFill>
              </a:defRPr>
            </a:pPr>
            <a:r>
              <a:t>Transforming Enterprise HR Friction into Autonomous Resolution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45920"/>
            <a:ext cx="287121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EA4335"/>
                </a:solidFill>
              </a:defRPr>
            </a:pPr>
            <a:r>
              <a:t>The Enterprise Challenge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• Fragmented Silos: Employees navigate separate portals for Policies (PDFs), HCM (Workday/WorkWeek), and ITSM (ServiceNow/ServiceImmediately).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• Context Loss: Compound workflows (e.g. sick leave -&gt; PTO booking -&gt; email delegation ticket) require 3 manual hops.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• Compliance Vulnerabilities: Employees misclassify expenses or take unapproved leaves due to complex statutory policies.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645920"/>
            <a:ext cx="287121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1A73E8"/>
                </a:solidFill>
              </a:defRPr>
            </a:pPr>
            <a:r>
              <a:t>The Agentic Solution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• Hierarchical Multi-Agent Topology: Built on Google Agent Development Kit (ADK) with root orchestrator &amp; 3 domain specialists.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• Open Knowledge Federation (OKF): Sub-millisecond policy retrieval with strict URI citations &amp; zero-hallucination guarantees.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• FastMCP Integration: Model Context Protocol over Streamable HTTP for live bi-directional HCM and ITSM transactions.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645920"/>
            <a:ext cx="287121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34A853"/>
                </a:solidFill>
              </a:defRPr>
            </a:pPr>
            <a:r>
              <a:t>Measurable Impact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• 85%+ Deflection of routine Tier-1 HR and IT helpdesk queries.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• &lt;10s SLA across multi-turn compound cross-system workflows.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• 100% Policy Compliance with hard programmatic and prompt invariants ('No means No').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• 99.34% Score on comprehensive 33-case benchmark evaluation suite.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A73E8"/>
                </a:solidFill>
              </a:defRPr>
            </a:pPr>
            <a:r>
              <a:t>ARCHITECTURE TOPOLOGY</a:t>
            </a:r>
          </a:p>
          <a:p>
            <a:pPr>
              <a:defRPr sz="2200" b="1">
                <a:solidFill>
                  <a:srgbClr val="1E293B"/>
                </a:solidFill>
              </a:defRPr>
            </a:pPr>
            <a:r>
              <a:t>Decoupled Hierarchical Multi-Agent Architecture</a:t>
            </a:r>
          </a:p>
        </p:txBody>
      </p:sp>
      <p:pic>
        <p:nvPicPr>
          <p:cNvPr id="3" name="Picture 2" descr="system_architecture_17869646635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669280" cy="316424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675120" y="1463040"/>
            <a:ext cx="475488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0" y="1554480"/>
            <a:ext cx="43891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A73E8"/>
                </a:solidFill>
              </a:defRPr>
            </a:pPr>
            <a:r>
              <a:t>Central ADK Root Orchestrator (`hr_orchestrator`)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Acts as the intelligent coordinator and single conversational interface.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Performs intent classification, context aggregation, and dynamic delegation.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Synthesizes multi-agent outputs into unified executive responses.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3108960"/>
            <a:ext cx="475488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3200400"/>
            <a:ext cx="43891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A73E8"/>
                </a:solidFill>
              </a:defRPr>
            </a:pPr>
            <a:r>
              <a:t>Policy Specialist (`policy_specialist`)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Open Knowledge Format (OKF) with thread-safe atomic cache hot-reloading.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Extracts statutory Singapore MOM rules, leaves, benefits, and code of conduct.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Enforces strict URI citations (`policy://...`) and zero hallucination.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4754880"/>
            <a:ext cx="475488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4846320"/>
            <a:ext cx="43891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A73E8"/>
                </a:solidFill>
              </a:defRPr>
            </a:pPr>
            <a:r>
              <a:t>HCM Specialist (`hcm_specialist`) &amp; ITSM Specialist (`itsm_specialist`)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WorkWeek FastMCP: Checks balances, submits time-off, updates profiles.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ServiceImmediately FastMCP: Ticket creation, comment activity, Tier-2 HITL escalation.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A73E8"/>
                </a:solidFill>
              </a:defRPr>
            </a:pPr>
            <a:r>
              <a:t>ENGINEERING RATIONALE</a:t>
            </a:r>
          </a:p>
          <a:p>
            <a:pPr>
              <a:defRPr sz="2200" b="1">
                <a:solidFill>
                  <a:srgbClr val="1E293B"/>
                </a:solidFill>
              </a:defRPr>
            </a:pPr>
            <a:r>
              <a:t>Key Architectural Decisions: Why This and Not That?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47548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1A73E8"/>
                </a:solidFill>
              </a:defRPr>
            </a:pPr>
            <a:r>
              <a:t>ARCHITECTURE DECISION</a:t>
            </a:r>
          </a:p>
          <a:p>
            <a:pPr>
              <a:defRPr sz="1250" b="1">
                <a:solidFill>
                  <a:srgbClr val="34A853"/>
                </a:solidFill>
              </a:defRPr>
            </a:pPr>
            <a:r>
              <a:t>✅ Chosen: Google ADK Multi-Agent Hierarchy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</a:defRPr>
            </a:pPr>
            <a:r>
              <a:t>❌ Rejected: Monolithic Prompt / Flat LangChain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Domain tool isolation prevents tool hallucination and prompt pollution.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Lightweight ADK Runner with standard SessionService for robust state management.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12064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00200"/>
            <a:ext cx="47548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1A73E8"/>
                </a:solidFill>
              </a:defRPr>
            </a:pPr>
            <a:r>
              <a:t>KNOWLEDGE ENGINE DECISION</a:t>
            </a:r>
          </a:p>
          <a:p>
            <a:pPr>
              <a:defRPr sz="1250" b="1">
                <a:solidFill>
                  <a:srgbClr val="34A853"/>
                </a:solidFill>
              </a:defRPr>
            </a:pPr>
            <a:r>
              <a:t>✅ Chosen: Open Knowledge Federation (OKF)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</a:defRPr>
            </a:pPr>
            <a:r>
              <a:t>❌ Rejected: Vector DB Embeddings / Heavy RAG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Atomic double-buffered cache with mtime auto-invalidation (sub-ms lookup).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Eliminates chunking loss, stale embeddings, and ungrounded hallucinations.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12064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799"/>
            <a:ext cx="47548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1A73E8"/>
                </a:solidFill>
              </a:defRPr>
            </a:pPr>
            <a:r>
              <a:t>TOOL INTEGRATION DECISION</a:t>
            </a:r>
          </a:p>
          <a:p>
            <a:pPr>
              <a:defRPr sz="1250" b="1">
                <a:solidFill>
                  <a:srgbClr val="34A853"/>
                </a:solidFill>
              </a:defRPr>
            </a:pPr>
            <a:r>
              <a:t>✅ Chosen: FastMCP over Streamable HTTP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</a:defRPr>
            </a:pPr>
            <a:r>
              <a:t>❌ Rejected: Custom Proprietary REST Endpoints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Standardized Model Context Protocol (MCP) dynamic tool schema discovery.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Universal deployment token binding with fallback resilience.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77639"/>
            <a:ext cx="512064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799"/>
            <a:ext cx="47548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1A73E8"/>
                </a:solidFill>
              </a:defRPr>
            </a:pPr>
            <a:r>
              <a:t>SECURITY &amp; DLP DECISION</a:t>
            </a:r>
          </a:p>
          <a:p>
            <a:pPr>
              <a:defRPr sz="1250" b="1">
                <a:solidFill>
                  <a:srgbClr val="34A853"/>
                </a:solidFill>
              </a:defRPr>
            </a:pPr>
            <a:r>
              <a:t>✅ Chosen: Model Armor + Regex Sanitizer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</a:defRPr>
            </a:pPr>
            <a:r>
              <a:t>❌ Rejected: Post-hoc LLM Self-Moderation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Zero SPII leakage (NRIC/Credit Cards masked BEFORE reaching LLM).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Immutable policy invariants: 'No Means No' even when users demand overrides.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A73E8"/>
                </a:solidFill>
              </a:defRPr>
            </a:pPr>
            <a:r>
              <a:t>AUTONOMOUS EXECUTION FLOW</a:t>
            </a:r>
          </a:p>
          <a:p>
            <a:pPr>
              <a:defRPr sz="2200" b="1">
                <a:solidFill>
                  <a:srgbClr val="1E293B"/>
                </a:solidFill>
              </a:defRPr>
            </a:pPr>
            <a:r>
              <a:t>Compound Multi-Hop Workflow Delegation</a:t>
            </a:r>
          </a:p>
        </p:txBody>
      </p:sp>
      <p:pic>
        <p:nvPicPr>
          <p:cNvPr id="3" name="Picture 2" descr="flow_diagram_178696469325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669280" cy="316424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675120" y="1463040"/>
            <a:ext cx="47548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0" y="155448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A73E8"/>
                </a:solidFill>
              </a:defRPr>
            </a:pPr>
            <a:r>
              <a:t>Step 1: Ingestion &amp; In-Flight Masking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User prompt is intercepted by Model Armor regex filter; NRIC, cards, and credentials are redacted prior to LLM submission.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2697480"/>
            <a:ext cx="47548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278892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A73E8"/>
                </a:solidFill>
              </a:defRPr>
            </a:pPr>
            <a:r>
              <a:t>Step 2: Orchestrator Intent Decomposition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Root agent analyzes query (e.g. 'I need 2 days leave and a ticket to forward emails') and decomposes into parallel/sequential sub-tasks.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3931920"/>
            <a:ext cx="47548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402336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A73E8"/>
                </a:solidFill>
              </a:defRPr>
            </a:pPr>
            <a:r>
              <a:t>Step 3: Specialist Tool Invocation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Policy Specialist verifies notice rules -&gt; HCM Specialist books time off -&gt; ITSM Specialist creates email routing incident.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5166360"/>
            <a:ext cx="47548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525780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A73E8"/>
                </a:solidFill>
              </a:defRPr>
            </a:pPr>
            <a:r>
              <a:t>Step 4: Synthesis, Citation &amp; UI Stream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Results are collated with ticket IDs, balance confirmations, and bottom policy sources, streamed back to user in sub-second response.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A73E8"/>
                </a:solidFill>
              </a:defRPr>
            </a:pPr>
            <a:r>
              <a:t>MODERN USER EXPERIENCE</a:t>
            </a:r>
          </a:p>
          <a:p>
            <a:pPr>
              <a:defRPr sz="2200" b="1">
                <a:solidFill>
                  <a:srgbClr val="1E293B"/>
                </a:solidFill>
              </a:defRPr>
            </a:pPr>
            <a:r>
              <a:t>Google Aura 3-Column Workspace UI</a:t>
            </a:r>
          </a:p>
        </p:txBody>
      </p:sp>
      <p:pic>
        <p:nvPicPr>
          <p:cNvPr id="3" name="Picture 2" descr="media_17872002467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06836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223760" y="1463040"/>
            <a:ext cx="42062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52360" y="1691640"/>
            <a:ext cx="374903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1A73E8"/>
                </a:solidFill>
              </a:defRPr>
            </a:pPr>
            <a:r>
              <a:t>Key UI Capabilities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✨ 3-Column Layout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Left: Chat Session History</a:t>
            </a:r>
            <a:br/>
            <a:r>
              <a:t>Center: Active Conversation Stream</a:t>
            </a:r>
            <a:br/>
            <a:r>
              <a:t>Right: Real-time 'My Hub' drawer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✨ Live 'My Hub' Sidebar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Dynamic leave balance bars and recent ITSM ticket tracker decoded live from FastMCP.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✨ Multi-User Persona Switcher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Seamless demonstration login across EMP-380 (Zuhaib), EMP-102 (Sarah), EMP-001 (Alex).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✨ Execution Trace Viewer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Collapsible tool-call trace revealing exact JSON-RPC payloads and ADK sub-agent handoffs.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✨ One-Click Quick Actions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Direct chip buttons for balance checks, ticket summaries, and policy FAQs.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A73E8"/>
                </a:solidFill>
              </a:defRPr>
            </a:pPr>
            <a:r>
              <a:t>LIVE ENTERPRISE INTEGRATIONS</a:t>
            </a:r>
          </a:p>
          <a:p>
            <a:pPr>
              <a:defRPr sz="2200" b="1">
                <a:solidFill>
                  <a:srgbClr val="1E293B"/>
                </a:solidFill>
              </a:defRPr>
            </a:pPr>
            <a:r>
              <a:t>Real-Time FastMCP SaaS Execution &amp; Attribution</a:t>
            </a:r>
          </a:p>
        </p:txBody>
      </p:sp>
      <p:pic>
        <p:nvPicPr>
          <p:cNvPr id="3" name="Picture 2" descr="media_17872002392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583680" cy="412765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589520" y="1463040"/>
            <a:ext cx="3840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691640"/>
            <a:ext cx="3383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34A853"/>
                </a:solidFill>
              </a:defRPr>
            </a:pPr>
            <a:r>
              <a:t>Verified SaaS Workflows</a:t>
            </a:r>
          </a:p>
          <a:p>
            <a:pPr>
              <a:defRPr sz="1150" b="1">
                <a:solidFill>
                  <a:srgbClr val="1E293B"/>
                </a:solidFill>
              </a:defRPr>
            </a:pPr>
            <a:r>
              <a:t>🔗 Direct Portal Creation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Tickets (INC0002836, INC0002835, etc.) appear instantly on the live SaaS portal with zero human middleware.</a:t>
            </a:r>
          </a:p>
          <a:p>
            <a:pPr>
              <a:defRPr sz="1150" b="1">
                <a:solidFill>
                  <a:srgbClr val="1E293B"/>
                </a:solidFill>
              </a:defRPr>
            </a:pPr>
            <a:r>
              <a:t>🔗 Accurate Attribution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Initial dispatch comments automatically link the employee's ID (e.g. 'Updated by: 380') in the audit trail.</a:t>
            </a:r>
          </a:p>
          <a:p>
            <a:pPr>
              <a:defRPr sz="1150" b="1">
                <a:solidFill>
                  <a:srgbClr val="1E293B"/>
                </a:solidFill>
              </a:defRPr>
            </a:pPr>
            <a:r>
              <a:t>🔗 Real-Time Balances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Leave deductions in WorkWeek immediately update accrued vacation/sick balances in the UI drawer.</a:t>
            </a:r>
          </a:p>
          <a:p>
            <a:pPr>
              <a:defRPr sz="1150" b="1">
                <a:solidFill>
                  <a:srgbClr val="1E293B"/>
                </a:solidFill>
              </a:defRPr>
            </a:pPr>
            <a:r>
              <a:t>🔗 Resilient Fallback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High-fidelity mock execution gracefully protects user experience during sandbox credential rotations.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A73E8"/>
                </a:solidFill>
              </a:defRPr>
            </a:pPr>
            <a:r>
              <a:t>SAFETY &amp; COMPLIANCE</a:t>
            </a:r>
          </a:p>
          <a:p>
            <a:pPr>
              <a:defRPr sz="2200" b="1">
                <a:solidFill>
                  <a:srgbClr val="1E293B"/>
                </a:solidFill>
              </a:defRPr>
            </a:pPr>
            <a:r>
              <a:t>Enterprise Guardrails: 'No Means No'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EA4335"/>
                </a:solidFill>
              </a:defRPr>
            </a:pPr>
            <a:r>
              <a:t>Anti-Bribery &amp; Deceptive Marketing (Sec 13.6)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Prohibits disguising government official entertainment under 'General Marketing' to avoid scrutiny.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Refuses ticket creation even when user explicitly demands: 'create it anyway'.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Mandates transparent Concur reporting + Manager Pre-Approval for client expenses &gt; $100.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1A73E8"/>
                </a:solidFill>
              </a:defRPr>
            </a:pPr>
            <a:r>
              <a:t>Data Loss Prevention (DLP) &amp; Privacy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Singapore NRIC Masking: In-flight sanitization replaces S1234567A with [NRIC_REDACTED].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Credit Card &amp; Token Scrubbing: Strips PANs and API keys before sending to LLM context.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GDPR / Right to be Forgotten: Session deletion endpoint for full compliance.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BBC05"/>
                </a:solidFill>
              </a:defRPr>
            </a:pPr>
            <a:r>
              <a:t>Transaction &amp; Leave Notice Guardrails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Overdraft Prevention: Blocks leave requests that exceed accrued balances.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15-Day Advance Notice Guard: Enforces statutory notice for long vacations while allowing routine 1-2 day short leaves.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Medical Certificate (MC) Invariant: Enforces MC submission within 48h for leaves &gt; 2 days.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A73E8"/>
                </a:solidFill>
              </a:defRPr>
            </a:pPr>
            <a:r>
              <a:t>VERIFICATION &amp; TESTING</a:t>
            </a:r>
          </a:p>
          <a:p>
            <a:pPr>
              <a:defRPr sz="2200" b="1">
                <a:solidFill>
                  <a:srgbClr val="1E293B"/>
                </a:solidFill>
              </a:defRPr>
            </a:pPr>
            <a:r>
              <a:t>Comprehensive 4-Tier Evaluation Suite (33 Test Cases)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657600" cy="475488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3291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73E8"/>
                </a:solidFill>
              </a:defRPr>
            </a:pPr>
            <a:r>
              <a:t>Overall Readiness</a:t>
            </a:r>
          </a:p>
          <a:p>
            <a:pPr>
              <a:spcAft>
                <a:spcPts val="800"/>
              </a:spcAft>
              <a:defRPr sz="3600" b="1">
                <a:solidFill>
                  <a:srgbClr val="34A853"/>
                </a:solidFill>
              </a:defRPr>
            </a:pPr>
            <a:r>
              <a:t>99.34%</a:t>
            </a:r>
          </a:p>
          <a:p>
            <a:pPr>
              <a:spcAft>
                <a:spcPts val="1400"/>
              </a:spcAft>
              <a:defRPr sz="1200" b="1">
                <a:solidFill>
                  <a:srgbClr val="1E293B"/>
                </a:solidFill>
              </a:defRPr>
            </a:pPr>
            <a:r>
              <a:t>✅ 33 / 33 Passed (100.0% Pass Rate)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Relevance (S_rel, 30%): 99.8%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Rigor &amp; Reasoning (S_rigor, 35%): 100.0%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Cost &amp; Time (S_cost_time, 15%): 96.0%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Safety Guardrails (S_guard, 20%): 100.0%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463040"/>
            <a:ext cx="6766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92040" y="1691640"/>
            <a:ext cx="6309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A73E8"/>
                </a:solidFill>
              </a:defRPr>
            </a:pPr>
            <a:r>
              <a:t>Stratified Dataset Coverage</a:t>
            </a:r>
          </a:p>
          <a:p>
            <a:pPr>
              <a:defRPr sz="1150" b="1">
                <a:solidFill>
                  <a:srgbClr val="1E293B"/>
                </a:solidFill>
              </a:defRPr>
            </a:pPr>
            <a:r>
              <a:t>🟢 Tier 1: Happy Path (10 Cases)</a:t>
            </a:r>
          </a:p>
          <a:p>
            <a:pPr>
              <a:spcAft>
                <a:spcPts val="400"/>
              </a:spcAft>
              <a:defRPr sz="950">
                <a:solidFill>
                  <a:srgbClr val="64748B"/>
                </a:solidFill>
              </a:defRPr>
            </a:pPr>
            <a:r>
              <a:t>MOM statutory sick/maternity leaves, vacation accrual calculations, WorkWeek balance lookups, and ServiceImmediately ticket submissions.</a:t>
            </a:r>
          </a:p>
          <a:p>
            <a:pPr>
              <a:defRPr sz="1150" b="1">
                <a:solidFill>
                  <a:srgbClr val="1E293B"/>
                </a:solidFill>
              </a:defRPr>
            </a:pPr>
            <a:r>
              <a:t>🟡 Tier 2: MAS Gotchas &amp; Multi-Hop (6 Cases)</a:t>
            </a:r>
          </a:p>
          <a:p>
            <a:pPr>
              <a:spcAft>
                <a:spcPts val="400"/>
              </a:spcAft>
              <a:defRPr sz="950">
                <a:solidFill>
                  <a:srgbClr val="64748B"/>
                </a:solidFill>
              </a:defRPr>
            </a:pPr>
            <a:r>
              <a:t>Cross-specialist handoffs, exhaustion preconditions, prohibited venue overrides, and ticket priority anti-inflation.</a:t>
            </a:r>
          </a:p>
          <a:p>
            <a:pPr>
              <a:defRPr sz="1150" b="1">
                <a:solidFill>
                  <a:srgbClr val="1E293B"/>
                </a:solidFill>
              </a:defRPr>
            </a:pPr>
            <a:r>
              <a:t>🔴 Tier 3: Hallucination Baits (3 Cases)</a:t>
            </a:r>
          </a:p>
          <a:p>
            <a:pPr>
              <a:spcAft>
                <a:spcPts val="400"/>
              </a:spcAft>
              <a:defRPr sz="950">
                <a:solidFill>
                  <a:srgbClr val="64748B"/>
                </a:solidFill>
              </a:defRPr>
            </a:pPr>
            <a:r>
              <a:t>Fictitious perks (pet helicopter transfers, crypto dining stipends, corporate yacht charters) testing strict zero-hallucination abstention.</a:t>
            </a:r>
          </a:p>
          <a:p>
            <a:pPr>
              <a:defRPr sz="1150" b="1">
                <a:solidFill>
                  <a:srgbClr val="1E293B"/>
                </a:solidFill>
              </a:defRPr>
            </a:pPr>
            <a:r>
              <a:t>🟣 Tier 4: Boundary &amp; Safety Probes (3 Cases)</a:t>
            </a:r>
          </a:p>
          <a:p>
            <a:pPr>
              <a:spcAft>
                <a:spcPts val="400"/>
              </a:spcAft>
              <a:defRPr sz="950">
                <a:solidFill>
                  <a:srgbClr val="64748B"/>
                </a:solidFill>
              </a:defRPr>
            </a:pPr>
            <a:r>
              <a:t>Out-of-scope domain probes (code algorithms, political opinions, stock trading advice) verifying polite refusals.</a:t>
            </a:r>
          </a:p>
          <a:p>
            <a:pPr>
              <a:defRPr sz="1150" b="1">
                <a:solidFill>
                  <a:srgbClr val="1E293B"/>
                </a:solidFill>
              </a:defRPr>
            </a:pPr>
            <a:r>
              <a:t>💬 Multi-Turn Trajectories (3 Flows)</a:t>
            </a:r>
          </a:p>
          <a:p>
            <a:pPr>
              <a:spcAft>
                <a:spcPts val="400"/>
              </a:spcAft>
              <a:defRPr sz="950">
                <a:solidFill>
                  <a:srgbClr val="64748B"/>
                </a:solidFill>
              </a:defRPr>
            </a:pPr>
            <a:r>
              <a:t>Complex stateful conversational flows with clarification loops and iterative issue troubleshooting.</a:t>
            </a:r>
          </a:p>
          <a:p>
            <a:pPr>
              <a:defRPr sz="1150" b="1">
                <a:solidFill>
                  <a:srgbClr val="1E293B"/>
                </a:solidFill>
              </a:defRPr>
            </a:pPr>
            <a:r>
              <a:t>🛡️ Adversarial &amp; Guardrails (8 Cases)</a:t>
            </a:r>
          </a:p>
          <a:p>
            <a:pPr>
              <a:spcAft>
                <a:spcPts val="400"/>
              </a:spcAft>
              <a:defRPr sz="950">
                <a:solidFill>
                  <a:srgbClr val="64748B"/>
                </a:solidFill>
              </a:defRPr>
            </a:pPr>
            <a:r>
              <a:t>Singapore NRIC masking, credit card DLP, prompt injection jailbreak defenses, and SaaS 500 error escalation.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A73E8"/>
                </a:solidFill>
              </a:defRPr>
            </a:pPr>
            <a:r>
              <a:t>DEVOPS &amp; INFRASTRUCTURE</a:t>
            </a:r>
          </a:p>
          <a:p>
            <a:pPr>
              <a:defRPr sz="2200" b="1">
                <a:solidFill>
                  <a:srgbClr val="1E293B"/>
                </a:solidFill>
              </a:defRPr>
            </a:pPr>
            <a:r>
              <a:t>Production Cloud Run Deployment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47548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A73E8"/>
                </a:solidFill>
              </a:defRPr>
            </a:pPr>
            <a:r>
              <a:t>Google Cloud Run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Serverless auto-scaling container running FastAPI + Uvicorn.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W3C Distributed Tracing headers propagated across all agent steps.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Zero cold-start delay with optimized multi-threaded async loop.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12064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00200"/>
            <a:ext cx="47548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4A853"/>
                </a:solidFill>
              </a:defRPr>
            </a:pPr>
            <a:r>
              <a:t>Google Cloud Secret Manager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Secure storage of FastMCP credentials (`hr-agent-mcp-token`).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Dynamic binding during Cloud Run deployment (`--set-secrets=...`).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Zero hardcoded secrets in source repository or container image.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12064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799"/>
            <a:ext cx="47548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BBC05"/>
                </a:solidFill>
              </a:defRPr>
            </a:pPr>
            <a:r>
              <a:t>Vertex AI &amp; IAM Service Accounts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Direct IAM integration via Compute Engine Service Account.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Zero credential expiration (eliminates local ADC login requirements).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Enterprise Gemini 2.5 Flash LLM with low latency and high concurrency.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77639"/>
            <a:ext cx="512064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799"/>
            <a:ext cx="47548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293B"/>
                </a:solidFill>
              </a:defRPr>
            </a:pPr>
            <a:r>
              <a:t>Automated CI/CD Deployment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1-Click deployment script: `./deploy_full_gcp.sh`.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Supports automated secret versioning, rolling revisions, and dry-run preflight checks.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BBC05"/>
                </a:solidFill>
              </a:defRPr>
            </a:pPr>
            <a:r>
              <a:t>ELEVATE HR • TEAM 12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Delivering True Enterprise Autonomous Value</a:t>
            </a:r>
          </a:p>
          <a:p>
            <a:pPr>
              <a:spcAft>
                <a:spcPts val="1000"/>
              </a:spcAft>
              <a:defRPr sz="1350">
                <a:solidFill>
                  <a:srgbClr val="E2E8F0"/>
                </a:solidFill>
              </a:defRPr>
            </a:pPr>
            <a:r>
              <a:t>🚀 Autonomous Self-Service: Employees complete leave bookings, policy inquiries, and IT tickets in seconds without HR human intervention.</a:t>
            </a:r>
          </a:p>
          <a:p>
            <a:pPr>
              <a:spcAft>
                <a:spcPts val="1000"/>
              </a:spcAft>
              <a:defRPr sz="1350">
                <a:solidFill>
                  <a:srgbClr val="E2E8F0"/>
                </a:solidFill>
              </a:defRPr>
            </a:pPr>
            <a:r>
              <a:t>🚀 Multi-System Interoperability: Seamless FastMCP connectivity bridges WorkWeek and ServiceImmediately into one conversational brain.</a:t>
            </a:r>
          </a:p>
          <a:p>
            <a:pPr>
              <a:spcAft>
                <a:spcPts val="1000"/>
              </a:spcAft>
              <a:defRPr sz="1350">
                <a:solidFill>
                  <a:srgbClr val="E2E8F0"/>
                </a:solidFill>
              </a:defRPr>
            </a:pPr>
            <a:r>
              <a:t>🚀 Zero-Compromise Security: Immutable compliance invariants, Singapore NRIC masking, and Model Armor prompt injection protection.</a:t>
            </a:r>
          </a:p>
          <a:p>
            <a:pPr>
              <a:spcAft>
                <a:spcPts val="1000"/>
              </a:spcAft>
              <a:defRPr sz="1350">
                <a:solidFill>
                  <a:srgbClr val="E2E8F0"/>
                </a:solidFill>
              </a:defRPr>
            </a:pPr>
            <a:r>
              <a:t>🚀 Production Proven: 99.34% composite score across 33 rigorous benchmarks with full Google Cloud Run serverless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